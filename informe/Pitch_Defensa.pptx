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NOSCAL SANTANA BRYAN STEVEN" userId="e87893df-7e30-49f6-91b5-01c9396b035d" providerId="ADAL" clId="{FED3B733-5B06-40A5-AF15-DBC1A1DA9DD3}"/>
    <pc:docChg chg="custSel modSld">
      <pc:chgData name="MENOSCAL SANTANA BRYAN STEVEN" userId="e87893df-7e30-49f6-91b5-01c9396b035d" providerId="ADAL" clId="{FED3B733-5B06-40A5-AF15-DBC1A1DA9DD3}" dt="2026-07-06T02:30:23.315" v="13" actId="3626"/>
      <pc:docMkLst>
        <pc:docMk/>
      </pc:docMkLst>
      <pc:sldChg chg="modSp mod">
        <pc:chgData name="MENOSCAL SANTANA BRYAN STEVEN" userId="e87893df-7e30-49f6-91b5-01c9396b035d" providerId="ADAL" clId="{FED3B733-5B06-40A5-AF15-DBC1A1DA9DD3}" dt="2026-07-06T02:30:23.315" v="13" actId="3626"/>
        <pc:sldMkLst>
          <pc:docMk/>
          <pc:sldMk cId="0" sldId="256"/>
        </pc:sldMkLst>
        <pc:spChg chg="mod">
          <ac:chgData name="MENOSCAL SANTANA BRYAN STEVEN" userId="e87893df-7e30-49f6-91b5-01c9396b035d" providerId="ADAL" clId="{FED3B733-5B06-40A5-AF15-DBC1A1DA9DD3}" dt="2026-07-06T02:30:23.315" v="13" actId="3626"/>
          <ac:spMkLst>
            <pc:docMk/>
            <pc:sldMk cId="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Dejar de apostar.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Empezar a predecir.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8E6C9"/>
                </a:solidFill>
                <a:latin typeface="Segoe UI"/>
              </a:rPr>
              <a:t>Sistema de predicción del rendimiento económico de reventa de cosechas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5D6A7"/>
                </a:solidFill>
                <a:latin typeface="Segoe UI"/>
              </a:rPr>
              <a:t>AgroComercial del Litoral S.A. · Proyecto Integrador — Analítica de Negocios 7A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dirty="0" err="1">
                <a:solidFill>
                  <a:srgbClr val="E8F2EA"/>
                </a:solidFill>
                <a:latin typeface="Segoe UI"/>
              </a:rPr>
              <a:t>Integrantes</a:t>
            </a:r>
            <a:r>
              <a:rPr sz="1300" b="0" dirty="0">
                <a:solidFill>
                  <a:srgbClr val="E8F2EA"/>
                </a:solidFill>
                <a:latin typeface="Segoe UI"/>
              </a:rPr>
              <a:t>:  </a:t>
            </a:r>
            <a:r>
              <a:rPr lang="en-US" sz="1100" b="1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CHILE SILVA CARLOS JUNIOR</a:t>
            </a:r>
            <a:r>
              <a:rPr sz="11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·  </a:t>
            </a:r>
            <a:r>
              <a:rPr lang="en-US" sz="1100" b="1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FIGUEROA ARTEAGA LUIS EMILIO</a:t>
            </a:r>
            <a:r>
              <a:rPr sz="11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·  </a:t>
            </a:r>
            <a:r>
              <a:rPr lang="en-US" sz="1100" b="1" i="0" strike="noStrike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MENOSCAL SANTANA BRYAN STEVEN</a:t>
            </a:r>
            <a:endParaRPr sz="1100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sz="1300" b="0" dirty="0" err="1">
                <a:solidFill>
                  <a:srgbClr val="E8F2EA"/>
                </a:solidFill>
                <a:latin typeface="Segoe UI"/>
              </a:rPr>
              <a:t>Docente</a:t>
            </a:r>
            <a:r>
              <a:rPr sz="1300" b="0" dirty="0">
                <a:solidFill>
                  <a:srgbClr val="E8F2EA"/>
                </a:solidFill>
                <a:latin typeface="Segoe UI"/>
              </a:rPr>
              <a:t>: Ing. Carlos </a:t>
            </a:r>
            <a:r>
              <a:rPr sz="1300" b="0" dirty="0" err="1">
                <a:solidFill>
                  <a:srgbClr val="E8F2EA"/>
                </a:solidFill>
                <a:latin typeface="Segoe UI"/>
              </a:rPr>
              <a:t>Manosalvas</a:t>
            </a:r>
            <a:r>
              <a:rPr sz="1300" b="0" dirty="0">
                <a:solidFill>
                  <a:srgbClr val="E8F2EA"/>
                </a:solidFill>
                <a:latin typeface="Segoe UI"/>
              </a:rPr>
              <a:t> 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El problema: comprar a ciegas cuesta caro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Hoy las decisiones de compra son reactivas e intuitivas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C2B21"/>
                </a:solidFill>
                <a:latin typeface="Segoe UI"/>
              </a:rPr>
              <a:t>Compramos cosechas apostando a que rendirán como el año pasado. Si la cosecha viene baja, pagamos caro y no abastecemos (quiebre de stock). Si viene abundante, compramos caro lo que luego vale menos (sobrestock y merma).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303580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C62828"/>
                </a:solidFill>
                <a:latin typeface="Segoe UI"/>
              </a:rPr>
              <a:t>31.2 %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3931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La oferta cambia hasta un tercio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 un año a otro (CV interanual)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92608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303580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9A825"/>
                </a:solidFill>
                <a:latin typeface="Segoe UI"/>
              </a:rPr>
              <a:t>5.5 %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63931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Merma promedio por orden: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dinero que se pudre en bodega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92608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6F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03580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5C6F62"/>
                </a:solidFill>
                <a:latin typeface="Segoe UI"/>
              </a:rPr>
              <a:t>62.9 %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63931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Del volumen concentrado en solo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3 cultivos (riesgo de portafolio)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2E7D32"/>
                </a:solidFill>
                <a:latin typeface="Segoe UI"/>
              </a:rPr>
              <a:t>El problema no es falta de datos —FAO y Banco Mundial publican todo—,</a:t>
            </a:r>
          </a:p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2E7D32"/>
                </a:solidFill>
                <a:latin typeface="Segoe UI"/>
              </a:rPr>
              <a:t>es que nadie los estaba usando para decidir.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La solución: analítica de punta a punta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De los datos oficiales a la decisión de compra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2697480" cy="3108960"/>
          </a:xfrm>
          <a:prstGeom prst="round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1 ·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FAOSTAT (FAO) +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API clima Banco Mundial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34,113 cosechas · 183 países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1990–2023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54480"/>
            <a:ext cx="2697480" cy="31089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2 · INGENIERÍA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Pipeline ETL automatizado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Esquema estrella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(2 hechos, 4 dimensiones)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Sin datos personales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2697480" cy="3108960"/>
          </a:xfrm>
          <a:prstGeom prst="round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3 · MODELO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Random Forest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R² = 0.96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Error ±0.811 ton/ha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Validación cruzada 5-fold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554480"/>
            <a:ext cx="2697480" cy="3108960"/>
          </a:xfrm>
          <a:prstGeom prst="round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0" y="17830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4 ·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331720"/>
            <a:ext cx="2331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Regla prescriptiva: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aumentar / mantener / reducir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la compra por cultivo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Plan 2024 listo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Entregables: dashboard estratégico (Power BI + versión interactiva), modelo predictivo funcional, informe técnico de 4 fases y este plan de compras.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Datos oficiales y ética desde el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2 — Ingeniería de datos y cumplimiento normativo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Tres fuentes integradas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0136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FAOSTAT oficial (rendimiento y pesticidas, hasta 2023-24), API pública de clima del Banco Mundial (CCKP, consultada en vivo) y el Excel interno de compras.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24328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Esquema estrella listo para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08376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34,113 observaciones limpias: duplicados, rangos físicos y consistencia referencial verificados automáticamente en cada ejecución.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1336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78561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Cero datos personales (LOPDP)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15384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Proveedores anonimizados por código desde el origen; el pipeline aborta si detecta columnas con PII.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038344"/>
            <a:ext cx="109728" cy="9601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99262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Predicción con supervisión humana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223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El modelo apoya al comité de compras, no lo reemplaza; toda predicción se comunica con su margen de error.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Qué nos dicen 33 años de cosechas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3 — Analítica descriptiva (Ecuador, 1990-2023)</a:t>
            </a:r>
          </a:p>
        </p:txBody>
      </p:sp>
      <p:pic>
        <p:nvPicPr>
          <p:cNvPr id="5" name="Picture 4" descr="02_rendimiento_ecu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55680" cy="3900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6692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Papa y plátano lideran el rendimiento; trigo y soya son los más bajos. El rendimiento NO es estable: por eso el promedio histórico no sirve para planificar compras.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Correlación no es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3 — Analítica diagnóstica: ¿por qué rinde más un cultivo?</a:t>
            </a:r>
          </a:p>
        </p:txBody>
      </p:sp>
      <p:pic>
        <p:nvPicPr>
          <p:cNvPr id="5" name="Picture 4" descr="03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949440" cy="2704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55448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La lluvia y la temperatura, por sí solas, casi no correlacionan con el rendimiento global.</a:t>
            </a:r>
          </a:p>
          <a:p>
            <a:pPr algn="l">
              <a:lnSpc>
                <a:spcPct val="115000"/>
              </a:lnSpc>
            </a:pPr>
            <a:endParaRPr sz="1350" b="0">
              <a:solidFill>
                <a:srgbClr val="1C2B21"/>
              </a:solidFill>
              <a:latin typeface="Segoe UI"/>
            </a:endParaRP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¿El clima no importa? Sí importa: su efecto depende del cultivo y del país.</a:t>
            </a:r>
          </a:p>
          <a:p>
            <a:pPr algn="l">
              <a:lnSpc>
                <a:spcPct val="115000"/>
              </a:lnSpc>
            </a:pPr>
            <a:endParaRPr sz="1350" b="0">
              <a:solidFill>
                <a:srgbClr val="1C2B21"/>
              </a:solidFill>
              <a:latin typeface="Segoe UI"/>
            </a:endParaRP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Los países con más pesticidas rinden más… pero el pesticida delata agricultura tecnificada; no es la causa por sí solo.</a:t>
            </a:r>
          </a:p>
          <a:p>
            <a:pPr algn="l">
              <a:lnSpc>
                <a:spcPct val="115000"/>
              </a:lnSpc>
            </a:pPr>
            <a:endParaRPr sz="1350" b="0">
              <a:solidFill>
                <a:srgbClr val="1C2B21"/>
              </a:solidFill>
              <a:latin typeface="Segoe UI"/>
            </a:endParaRP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B21"/>
                </a:solidFill>
                <a:latin typeface="Segoe UI"/>
              </a:rPr>
              <a:t>Conclusión: se necesita un modelo que combine todos los factores a la vez.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El modelo: Random Forest · R² = 0.96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Fase 4 — Analítica predictiva con métricas honestas</a:t>
            </a:r>
          </a:p>
        </p:txBody>
      </p:sp>
      <p:pic>
        <p:nvPicPr>
          <p:cNvPr id="5" name="Picture 4" descr="06_comparacion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6766560" cy="24860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554480"/>
            <a:ext cx="3840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09560" y="166420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96 %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26771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 la variabilidad del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rendimiento explicada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108960"/>
            <a:ext cx="3840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09560" y="32186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±0.811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82219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ton/ha de error típico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(MAE en datos nunca vistos)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663440"/>
            <a:ext cx="3840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9560" y="477316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0.727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37667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ton/ha RMSE en Ecuador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(mejor que el promedio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No es una caja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IA Explicable (XAI): qué variables pesan en la predicción</a:t>
            </a:r>
          </a:p>
        </p:txBody>
      </p:sp>
      <p:pic>
        <p:nvPicPr>
          <p:cNvPr id="5" name="Picture 4" descr="08_importancia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7498079" cy="41974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7373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El modelo decide como un agrónomo:</a:t>
            </a:r>
          </a:p>
          <a:p>
            <a:pPr algn="l">
              <a:lnSpc>
                <a:spcPct val="120000"/>
              </a:lnSpc>
            </a:pPr>
            <a:endParaRPr sz="1400" b="0">
              <a:solidFill>
                <a:srgbClr val="1C2B21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1º ubica el cultivo</a:t>
            </a:r>
          </a:p>
          <a:p>
            <a:pPr algn="l">
              <a:lnSpc>
                <a:spcPct val="120000"/>
              </a:lnSpc>
            </a:pPr>
            <a:endParaRPr sz="1400" b="0">
              <a:solidFill>
                <a:srgbClr val="1C2B21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2º considera el país (suelo, tecnología)</a:t>
            </a:r>
          </a:p>
          <a:p>
            <a:pPr algn="l">
              <a:lnSpc>
                <a:spcPct val="120000"/>
              </a:lnSpc>
            </a:pPr>
            <a:endParaRPr sz="1400" b="0">
              <a:solidFill>
                <a:srgbClr val="1C2B21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3º ajusta por clima y manejo del año</a:t>
            </a:r>
          </a:p>
          <a:p>
            <a:pPr algn="l">
              <a:lnSpc>
                <a:spcPct val="120000"/>
              </a:lnSpc>
            </a:pPr>
            <a:endParaRPr sz="1400" b="0">
              <a:solidFill>
                <a:srgbClr val="1C2B21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…pero con la memoria de 34,113 cosechas.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El entregable: plan de compras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Pilar prescriptivo — regla de decisión sobre el índice de oferta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Cultivo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Predicho (ton/ha)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Índice oferta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C6F62"/>
                </a:solidFill>
                <a:latin typeface="Segoe UI"/>
              </a:rPr>
              <a:t>Decisión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Maíz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82880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4.42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28800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1.891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40864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40864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Trigo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340864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340864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1.613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40864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52928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852928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Yuca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852928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6.37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852928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52928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64992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364992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Papa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13.27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364992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1.422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364992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77056"/>
            <a:ext cx="91440" cy="4389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3877056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Arroz en cáscara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877056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3.98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877056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1.109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877056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Segoe UI"/>
              </a:rPr>
              <a:t>▲ +15 %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389120"/>
            <a:ext cx="91440" cy="43891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389120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Sorgo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438912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389120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1.046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389120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9A825"/>
                </a:solidFill>
                <a:latin typeface="Segoe UI"/>
              </a:rPr>
              <a:t>= mantener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901184"/>
            <a:ext cx="91440" cy="43891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4901184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Plátano y otros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4901184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6.97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4901184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0.988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901184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9A825"/>
                </a:solidFill>
                <a:latin typeface="Segoe UI"/>
              </a:rPr>
              <a:t>= mantener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13248"/>
            <a:ext cx="91440" cy="43891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5413248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Camote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5413248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2.32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413248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0.907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413248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Segoe UI"/>
              </a:rPr>
              <a:t>▼ −15 %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925312"/>
            <a:ext cx="91440" cy="43891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31520" y="5925312"/>
            <a:ext cx="29260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B21"/>
                </a:solidFill>
                <a:latin typeface="Segoe UI"/>
              </a:rPr>
              <a:t>Soya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5925312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1.36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5925312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B21"/>
                </a:solidFill>
                <a:latin typeface="Segoe UI"/>
              </a:rPr>
              <a:t>0.874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5925312"/>
            <a:ext cx="3200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Segoe UI"/>
              </a:rPr>
              <a:t>▼ −15 %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"/>
              </a:rPr>
              <a:t>Honestidad que da credibilidad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8E6C9"/>
                </a:solidFill>
                <a:latin typeface="Segoe UI"/>
              </a:rPr>
              <a:t>Sesgos, límites y cómo los mitigamos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Sesgo de representación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0136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Los cultivos con menos historia (plátano, papa en ciertos países) tienen mayor error; sus recomendaciones se entregan con advertencia explícita de incertidumbre.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24328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Rezago del dato oficial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08376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FAOSTAT publica con 1-2 años de rezago (histórico hasta 2023). El pipeline reentrena con un comando cuando la FAO actualiza.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1336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78561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Compras internas simuladas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15384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El rendimiento y el clima son reales; las compras son un escenario académico declarado como 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038344"/>
            <a:ext cx="109728" cy="9601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99262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4332"/>
                </a:solidFill>
                <a:latin typeface="Segoe UI"/>
              </a:rPr>
              <a:t>Supervisión humana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223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B21"/>
                </a:solidFill>
                <a:latin typeface="Segoe UI"/>
              </a:rPr>
              <a:t>La decisión final es del comité: el modelo aporta evidencia, no órdenes.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AgroComercial del Litoral S.A. · Analítica de Negocios 7A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F62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Hoy AgroComercial decide con evidencia: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qué comprar, cuánto y con qué confianza.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5760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376732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21.4 %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37083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 margen bruto,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defendido con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365760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09160" y="376732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R² 0.96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37083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modelo validado en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datos nunca vistos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657600"/>
            <a:ext cx="32918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66760" y="3767328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2E7D32"/>
                </a:solidFill>
                <a:latin typeface="Segoe UI"/>
              </a:rPr>
              <a:t>34,113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37083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cosechas de respaldo para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C6F62"/>
                </a:solidFill>
                <a:latin typeface="Segoe UI"/>
              </a:rPr>
              <a:t>la intuición del comprador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C8E6C9"/>
                </a:solidFill>
                <a:latin typeface="Segoe UI"/>
              </a:rPr>
              <a:t>Gracias —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1028</Words>
  <Application>Microsoft Office PowerPoint</Application>
  <PresentationFormat>Widescreen</PresentationFormat>
  <Paragraphs>169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Segoe UI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MENOSCAL SANTANA BRYAN STEVEN</cp:lastModifiedBy>
  <cp:revision>1</cp:revision>
  <dcterms:created xsi:type="dcterms:W3CDTF">2013-01-27T09:14:16Z</dcterms:created>
  <dcterms:modified xsi:type="dcterms:W3CDTF">2026-07-06T02:32:15Z</dcterms:modified>
  <cp:category/>
</cp:coreProperties>
</file>