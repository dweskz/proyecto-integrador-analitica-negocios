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3272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Segoe UI"/>
              </a:rPr>
              <a:t>Dejar de apostar.</a:t>
            </a:r>
          </a:p>
          <a:p>
            <a:pPr algn="l">
              <a:lnSpc>
                <a:spcPct val="100000"/>
              </a:lnSpc>
            </a:pPr>
            <a:r>
              <a:rPr sz="4400" b="1">
                <a:solidFill>
                  <a:srgbClr val="FFFFFF"/>
                </a:solidFill>
                <a:latin typeface="Segoe UI"/>
              </a:rPr>
              <a:t>Empezar a predecir.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20040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C8E6C9"/>
                </a:solidFill>
                <a:latin typeface="Segoe UI"/>
              </a:rPr>
              <a:t>Sistema de predicción del rendimiento económico de reventa de cosechas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77639"/>
            <a:ext cx="10332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A5D6A7"/>
                </a:solidFill>
                <a:latin typeface="Segoe UI"/>
              </a:rPr>
              <a:t>AgroComercial del Litoral S.A. · Proyecto Integrador — Analítica de Negocios 7A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120640"/>
            <a:ext cx="10332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E8F2EA"/>
                </a:solidFill>
                <a:latin typeface="Segoe UI"/>
              </a:rPr>
              <a:t>Integrantes:  _____________  ·  _____________  ·  _____________</a:t>
            </a:r>
          </a:p>
          <a:p>
            <a:pPr algn="l">
              <a:lnSpc>
                <a:spcPct val="100000"/>
              </a:lnSpc>
            </a:pPr>
            <a:r>
              <a:rPr sz="1300" b="0">
                <a:solidFill>
                  <a:srgbClr val="E8F2EA"/>
                </a:solidFill>
                <a:latin typeface="Segoe UI"/>
              </a:rPr>
              <a:t>Docente: Ing. Carlos Manosalvas G.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Segoe UI"/>
              </a:rPr>
              <a:t>El problema: comprar a ciegas cuesta caro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C8E6C9"/>
                </a:solidFill>
                <a:latin typeface="Segoe UI"/>
              </a:rPr>
              <a:t>Hoy las decisiones de compra son reactivas e intuitivas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371600"/>
            <a:ext cx="11155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600" b="0">
                <a:solidFill>
                  <a:srgbClr val="1C2B21"/>
                </a:solidFill>
                <a:latin typeface="Segoe UI"/>
              </a:rPr>
              <a:t>Compramos cosechas apostando a que rendirán como el año pasado. Si la cosecha viene baja, pagamos caro y no abastecemos (quiebre de stock). Si viene abundante, compramos caro lo que luego vale menos (sobrestock y merma).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926080"/>
            <a:ext cx="3291840" cy="1554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6282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3035808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1">
                <a:solidFill>
                  <a:srgbClr val="C62828"/>
                </a:solidFill>
                <a:latin typeface="Segoe UI"/>
              </a:rPr>
              <a:t>31.2 %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639312"/>
            <a:ext cx="3108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5C6F62"/>
                </a:solidFill>
                <a:latin typeface="Segoe UI"/>
              </a:rPr>
              <a:t>La oferta cambia hasta un tercio</a:t>
            </a:r>
          </a:p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5C6F62"/>
                </a:solidFill>
                <a:latin typeface="Segoe UI"/>
              </a:rPr>
              <a:t>de un año a otro (CV interanual)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2926080"/>
            <a:ext cx="3291840" cy="1554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F9A82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3035808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1">
                <a:solidFill>
                  <a:srgbClr val="F9A825"/>
                </a:solidFill>
                <a:latin typeface="Segoe UI"/>
              </a:rPr>
              <a:t>5.5 %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3639312"/>
            <a:ext cx="3108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5C6F62"/>
                </a:solidFill>
                <a:latin typeface="Segoe UI"/>
              </a:rPr>
              <a:t>Merma promedio por orden:</a:t>
            </a:r>
          </a:p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5C6F62"/>
                </a:solidFill>
                <a:latin typeface="Segoe UI"/>
              </a:rPr>
              <a:t>dinero que se pudre en bodega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2926080"/>
            <a:ext cx="3291840" cy="1554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5C6F6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366760" y="3035808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1">
                <a:solidFill>
                  <a:srgbClr val="5C6F62"/>
                </a:solidFill>
                <a:latin typeface="Segoe UI"/>
              </a:rPr>
              <a:t>62.9 %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3639312"/>
            <a:ext cx="3108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5C6F62"/>
                </a:solidFill>
                <a:latin typeface="Segoe UI"/>
              </a:rPr>
              <a:t>Del volumen concentrado en solo</a:t>
            </a:r>
          </a:p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5C6F62"/>
                </a:solidFill>
                <a:latin typeface="Segoe UI"/>
              </a:rPr>
              <a:t>3 cultivos (riesgo de portafolio)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937760"/>
            <a:ext cx="10789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2E7D32"/>
                </a:solidFill>
                <a:latin typeface="Segoe UI"/>
              </a:rPr>
              <a:t>El problema no es falta de datos —FAO y Banco Mundial publican todo—,</a:t>
            </a:r>
          </a:p>
          <a:p>
            <a:pPr algn="ctr">
              <a:lnSpc>
                <a:spcPct val="100000"/>
              </a:lnSpc>
            </a:pPr>
            <a:r>
              <a:rPr sz="1700" b="1">
                <a:solidFill>
                  <a:srgbClr val="2E7D32"/>
                </a:solidFill>
                <a:latin typeface="Segoe UI"/>
              </a:rPr>
              <a:t>es que nadie los estaba usando para decidir.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465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C6F62"/>
                </a:solidFill>
                <a:latin typeface="Segoe UI"/>
              </a:rPr>
              <a:t>AgroComercial del Litoral S.A. · Analítica de Negocios 7A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C6F62"/>
                </a:solidFill>
                <a:latin typeface="Segoe U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Segoe UI"/>
              </a:rPr>
              <a:t>La solución: analítica de punta a punta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C8E6C9"/>
                </a:solidFill>
                <a:latin typeface="Segoe UI"/>
              </a:rPr>
              <a:t>De los datos oficiales a la decisión de compra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554480"/>
            <a:ext cx="2697480" cy="3108960"/>
          </a:xfrm>
          <a:prstGeom prst="round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78308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1 · DATOS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31720"/>
            <a:ext cx="2331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FFFFFF"/>
                </a:solidFill>
                <a:latin typeface="Segoe UI"/>
              </a:rPr>
              <a:t>FAOSTAT (FAO) +</a:t>
            </a:r>
          </a:p>
          <a:p>
            <a:pPr algn="l">
              <a:lnSpc>
                <a:spcPct val="120000"/>
              </a:lnSpc>
            </a:pPr>
            <a:r>
              <a:rPr sz="1250" b="0">
                <a:solidFill>
                  <a:srgbClr val="FFFFFF"/>
                </a:solidFill>
                <a:latin typeface="Segoe UI"/>
              </a:rPr>
              <a:t>API clima Banco Mundial</a:t>
            </a:r>
          </a:p>
          <a:p>
            <a:pPr algn="l">
              <a:lnSpc>
                <a:spcPct val="120000"/>
              </a:lnSpc>
            </a:pPr>
            <a:r>
              <a:rPr sz="1250" b="0">
                <a:solidFill>
                  <a:srgbClr val="FFFFFF"/>
                </a:solidFill>
                <a:latin typeface="Segoe UI"/>
              </a:rPr>
              <a:t>34,113 cosechas · 183 países</a:t>
            </a:r>
          </a:p>
          <a:p>
            <a:pPr algn="l">
              <a:lnSpc>
                <a:spcPct val="120000"/>
              </a:lnSpc>
            </a:pPr>
            <a:r>
              <a:rPr sz="1250" b="0">
                <a:solidFill>
                  <a:srgbClr val="FFFFFF"/>
                </a:solidFill>
                <a:latin typeface="Segoe UI"/>
              </a:rPr>
              <a:t>1990–2023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83280" y="1554480"/>
            <a:ext cx="2697480" cy="3108960"/>
          </a:xfrm>
          <a:prstGeom prst="round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66160" y="178308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2 · INGENIERÍA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66160" y="2331720"/>
            <a:ext cx="2331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FFFFFF"/>
                </a:solidFill>
                <a:latin typeface="Segoe UI"/>
              </a:rPr>
              <a:t>Pipeline ETL automatizado</a:t>
            </a:r>
          </a:p>
          <a:p>
            <a:pPr algn="l">
              <a:lnSpc>
                <a:spcPct val="120000"/>
              </a:lnSpc>
            </a:pPr>
            <a:r>
              <a:rPr sz="1250" b="0">
                <a:solidFill>
                  <a:srgbClr val="FFFFFF"/>
                </a:solidFill>
                <a:latin typeface="Segoe UI"/>
              </a:rPr>
              <a:t>Esquema estrella</a:t>
            </a:r>
          </a:p>
          <a:p>
            <a:pPr algn="l">
              <a:lnSpc>
                <a:spcPct val="120000"/>
              </a:lnSpc>
            </a:pPr>
            <a:r>
              <a:rPr sz="1250" b="0">
                <a:solidFill>
                  <a:srgbClr val="FFFFFF"/>
                </a:solidFill>
                <a:latin typeface="Segoe UI"/>
              </a:rPr>
              <a:t>(2 hechos, 4 dimensiones)</a:t>
            </a:r>
          </a:p>
          <a:p>
            <a:pPr algn="l">
              <a:lnSpc>
                <a:spcPct val="120000"/>
              </a:lnSpc>
            </a:pPr>
            <a:r>
              <a:rPr sz="1250" b="0">
                <a:solidFill>
                  <a:srgbClr val="FFFFFF"/>
                </a:solidFill>
                <a:latin typeface="Segoe UI"/>
              </a:rPr>
              <a:t>Sin datos personales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554480"/>
            <a:ext cx="2697480" cy="3108960"/>
          </a:xfrm>
          <a:prstGeom prst="roundRect">
            <a:avLst/>
          </a:prstGeom>
          <a:solidFill>
            <a:srgbClr val="66BB6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78308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3 · MODELO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2331720"/>
            <a:ext cx="2331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FFFFFF"/>
                </a:solidFill>
                <a:latin typeface="Segoe UI"/>
              </a:rPr>
              <a:t>Random Forest</a:t>
            </a:r>
          </a:p>
          <a:p>
            <a:pPr algn="l">
              <a:lnSpc>
                <a:spcPct val="120000"/>
              </a:lnSpc>
            </a:pPr>
            <a:r>
              <a:rPr sz="1250" b="0">
                <a:solidFill>
                  <a:srgbClr val="FFFFFF"/>
                </a:solidFill>
                <a:latin typeface="Segoe UI"/>
              </a:rPr>
              <a:t>R² = 0.96</a:t>
            </a:r>
          </a:p>
          <a:p>
            <a:pPr algn="l">
              <a:lnSpc>
                <a:spcPct val="120000"/>
              </a:lnSpc>
            </a:pPr>
            <a:r>
              <a:rPr sz="1250" b="0">
                <a:solidFill>
                  <a:srgbClr val="FFFFFF"/>
                </a:solidFill>
                <a:latin typeface="Segoe UI"/>
              </a:rPr>
              <a:t>Error ±0.811 ton/ha</a:t>
            </a:r>
          </a:p>
          <a:p>
            <a:pPr algn="l">
              <a:lnSpc>
                <a:spcPct val="120000"/>
              </a:lnSpc>
            </a:pPr>
            <a:r>
              <a:rPr sz="1250" b="0">
                <a:solidFill>
                  <a:srgbClr val="FFFFFF"/>
                </a:solidFill>
                <a:latin typeface="Segoe UI"/>
              </a:rPr>
              <a:t>Validación cruzada 5-fold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1554480"/>
            <a:ext cx="2697480" cy="3108960"/>
          </a:xfrm>
          <a:prstGeom prst="roundRect">
            <a:avLst/>
          </a:prstGeom>
          <a:solidFill>
            <a:srgbClr val="F9A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26880" y="1783080"/>
            <a:ext cx="2331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FFFFFF"/>
                </a:solidFill>
                <a:latin typeface="Segoe UI"/>
              </a:rPr>
              <a:t>4 · DECISIÓN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2331720"/>
            <a:ext cx="2331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FFFFFF"/>
                </a:solidFill>
                <a:latin typeface="Segoe UI"/>
              </a:rPr>
              <a:t>Regla prescriptiva:</a:t>
            </a:r>
          </a:p>
          <a:p>
            <a:pPr algn="l">
              <a:lnSpc>
                <a:spcPct val="120000"/>
              </a:lnSpc>
            </a:pPr>
            <a:r>
              <a:rPr sz="1250" b="0">
                <a:solidFill>
                  <a:srgbClr val="FFFFFF"/>
                </a:solidFill>
                <a:latin typeface="Segoe UI"/>
              </a:rPr>
              <a:t>aumentar / mantener / reducir</a:t>
            </a:r>
          </a:p>
          <a:p>
            <a:pPr algn="l">
              <a:lnSpc>
                <a:spcPct val="120000"/>
              </a:lnSpc>
            </a:pPr>
            <a:r>
              <a:rPr sz="1250" b="0">
                <a:solidFill>
                  <a:srgbClr val="FFFFFF"/>
                </a:solidFill>
                <a:latin typeface="Segoe UI"/>
              </a:rPr>
              <a:t>la compra por cultivo</a:t>
            </a:r>
          </a:p>
          <a:p>
            <a:pPr algn="l">
              <a:lnSpc>
                <a:spcPct val="120000"/>
              </a:lnSpc>
            </a:pPr>
            <a:r>
              <a:rPr sz="1250" b="0">
                <a:solidFill>
                  <a:srgbClr val="FFFFFF"/>
                </a:solidFill>
                <a:latin typeface="Segoe UI"/>
              </a:rPr>
              <a:t>Plan 2024 listo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5029200"/>
            <a:ext cx="111556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C2B21"/>
                </a:solidFill>
                <a:latin typeface="Segoe UI"/>
              </a:rPr>
              <a:t>Entregables: dashboard estratégico (Power BI + versión interactiva), modelo predictivo funcional, informe técnico de 4 fases y este plan de compras.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4465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C6F62"/>
                </a:solidFill>
                <a:latin typeface="Segoe UI"/>
              </a:rPr>
              <a:t>AgroComercial del Litoral S.A. · Analítica de Negocios 7A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C6F62"/>
                </a:solidFill>
                <a:latin typeface="Segoe U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Segoe UI"/>
              </a:rPr>
              <a:t>Datos oficiales y ética desde el diseño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C8E6C9"/>
                </a:solidFill>
                <a:latin typeface="Segoe UI"/>
              </a:rPr>
              <a:t>Fase 2 — Ingeniería de datos y cumplimiento normativo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17320"/>
            <a:ext cx="109728" cy="9601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B4332"/>
                </a:solidFill>
                <a:latin typeface="Segoe UI"/>
              </a:rPr>
              <a:t>Tres fuentes integradas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01368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C2B21"/>
                </a:solidFill>
                <a:latin typeface="Segoe UI"/>
              </a:rPr>
              <a:t>FAOSTAT oficial (rendimiento y pesticidas, hasta 2023-24), API pública de clima del Banco Mundial (CCKP, consultada en vivo) y el Excel interno de compras.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624328"/>
            <a:ext cx="109728" cy="9601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57860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B4332"/>
                </a:solidFill>
                <a:latin typeface="Segoe UI"/>
              </a:rPr>
              <a:t>Esquema estrella listo para BI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008376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C2B21"/>
                </a:solidFill>
                <a:latin typeface="Segoe UI"/>
              </a:rPr>
              <a:t>34,113 observaciones limpias: duplicados, rangos físicos y consistencia referencial verificados automáticamente en cada ejecución.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831336"/>
            <a:ext cx="109728" cy="9601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785616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B4332"/>
                </a:solidFill>
                <a:latin typeface="Segoe UI"/>
              </a:rPr>
              <a:t>Cero datos personales (LOPDP)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215384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C2B21"/>
                </a:solidFill>
                <a:latin typeface="Segoe UI"/>
              </a:rPr>
              <a:t>Proveedores anonimizados por código desde el origen; el pipeline aborta si detecta columnas con PII.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5038344"/>
            <a:ext cx="109728" cy="960120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992624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B4332"/>
                </a:solidFill>
                <a:latin typeface="Segoe UI"/>
              </a:rPr>
              <a:t>Predicción con supervisión humana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422392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C2B21"/>
                </a:solidFill>
                <a:latin typeface="Segoe UI"/>
              </a:rPr>
              <a:t>El modelo apoya al comité de compras, no lo reemplaza; toda predicción se comunica con su margen de error.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465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C6F62"/>
                </a:solidFill>
                <a:latin typeface="Segoe UI"/>
              </a:rPr>
              <a:t>AgroComercial del Litoral S.A. · Analítica de Negocios 7A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C6F62"/>
                </a:solidFill>
                <a:latin typeface="Segoe U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Segoe UI"/>
              </a:rPr>
              <a:t>Qué nos dicen 33 años de cosechas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C8E6C9"/>
                </a:solidFill>
                <a:latin typeface="Segoe UI"/>
              </a:rPr>
              <a:t>Fase 3 — Analítica descriptiva (Ecuador, 1990-2023)</a:t>
            </a:r>
          </a:p>
        </p:txBody>
      </p:sp>
      <p:pic>
        <p:nvPicPr>
          <p:cNvPr id="5" name="Picture 4" descr="02_rendimiento_ecuad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71600"/>
            <a:ext cx="11155680" cy="390045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502920" y="5669280"/>
            <a:ext cx="111556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C2B21"/>
                </a:solidFill>
                <a:latin typeface="Segoe UI"/>
              </a:rPr>
              <a:t>Papa y plátano lideran el rendimiento; trigo y soya son los más bajos. El rendimiento NO es estable: por eso el promedio histórico no sirve para planificar compras.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C6F62"/>
                </a:solidFill>
                <a:latin typeface="Segoe UI"/>
              </a:rPr>
              <a:t>AgroComercial del Litoral S.A. · Analítica de Negocios 7A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C6F62"/>
                </a:solidFill>
                <a:latin typeface="Segoe U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Segoe UI"/>
              </a:rPr>
              <a:t>Correlación no es causalidad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C8E6C9"/>
                </a:solidFill>
                <a:latin typeface="Segoe UI"/>
              </a:rPr>
              <a:t>Fase 3 — Analítica diagnóstica: ¿por qué rinde más un cultivo?</a:t>
            </a:r>
          </a:p>
        </p:txBody>
      </p:sp>
      <p:pic>
        <p:nvPicPr>
          <p:cNvPr id="5" name="Picture 4" descr="03_correlacion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371600"/>
            <a:ext cx="6949440" cy="270444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0" y="1554480"/>
            <a:ext cx="39319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350" b="0">
                <a:solidFill>
                  <a:srgbClr val="1C2B21"/>
                </a:solidFill>
                <a:latin typeface="Segoe UI"/>
              </a:rPr>
              <a:t>La lluvia y la temperatura, por sí solas, casi no correlacionan con el rendimiento global.</a:t>
            </a:r>
          </a:p>
          <a:p>
            <a:pPr algn="l">
              <a:lnSpc>
                <a:spcPct val="115000"/>
              </a:lnSpc>
            </a:pPr>
          </a:p>
          <a:p>
            <a:pPr algn="l">
              <a:lnSpc>
                <a:spcPct val="115000"/>
              </a:lnSpc>
            </a:pPr>
            <a:r>
              <a:rPr sz="1350" b="0">
                <a:solidFill>
                  <a:srgbClr val="1C2B21"/>
                </a:solidFill>
                <a:latin typeface="Segoe UI"/>
              </a:rPr>
              <a:t>¿El clima no importa? Sí importa: su efecto depende del cultivo y del país.</a:t>
            </a:r>
          </a:p>
          <a:p>
            <a:pPr algn="l">
              <a:lnSpc>
                <a:spcPct val="115000"/>
              </a:lnSpc>
            </a:pPr>
          </a:p>
          <a:p>
            <a:pPr algn="l">
              <a:lnSpc>
                <a:spcPct val="115000"/>
              </a:lnSpc>
            </a:pPr>
            <a:r>
              <a:rPr sz="1350" b="0">
                <a:solidFill>
                  <a:srgbClr val="1C2B21"/>
                </a:solidFill>
                <a:latin typeface="Segoe UI"/>
              </a:rPr>
              <a:t>Los países con más pesticidas rinden más… pero el pesticida delata agricultura tecnificada; no es la causa por sí solo.</a:t>
            </a:r>
          </a:p>
          <a:p>
            <a:pPr algn="l">
              <a:lnSpc>
                <a:spcPct val="115000"/>
              </a:lnSpc>
            </a:pPr>
          </a:p>
          <a:p>
            <a:pPr algn="l">
              <a:lnSpc>
                <a:spcPct val="115000"/>
              </a:lnSpc>
            </a:pPr>
            <a:r>
              <a:rPr sz="1350" b="0">
                <a:solidFill>
                  <a:srgbClr val="1C2B21"/>
                </a:solidFill>
                <a:latin typeface="Segoe UI"/>
              </a:rPr>
              <a:t>Conclusión: se necesita un modelo que combine todos los factores a la vez.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C6F62"/>
                </a:solidFill>
                <a:latin typeface="Segoe UI"/>
              </a:rPr>
              <a:t>AgroComercial del Litoral S.A. · Analítica de Negocios 7A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C6F62"/>
                </a:solidFill>
                <a:latin typeface="Segoe U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Segoe UI"/>
              </a:rPr>
              <a:t>El modelo: Random Forest · R² = 0.96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C8E6C9"/>
                </a:solidFill>
                <a:latin typeface="Segoe UI"/>
              </a:rPr>
              <a:t>Fase 4 — Analítica predictiva con métricas honestas</a:t>
            </a:r>
          </a:p>
        </p:txBody>
      </p:sp>
      <p:pic>
        <p:nvPicPr>
          <p:cNvPr id="5" name="Picture 4" descr="06_comparacion_model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17320"/>
            <a:ext cx="6766560" cy="2486032"/>
          </a:xfrm>
          <a:prstGeom prst="rect">
            <a:avLst/>
          </a:prstGeom>
        </p:spPr>
      </p:pic>
      <p:sp>
        <p:nvSpPr>
          <p:cNvPr id="6" name="Rounded Rectangle 5"/>
          <p:cNvSpPr/>
          <p:nvPr/>
        </p:nvSpPr>
        <p:spPr>
          <a:xfrm>
            <a:off x="7772400" y="1554480"/>
            <a:ext cx="384048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09560" y="1664208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1">
                <a:solidFill>
                  <a:srgbClr val="2E7D32"/>
                </a:solidFill>
                <a:latin typeface="Segoe UI"/>
              </a:rPr>
              <a:t>96 %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863840" y="2267712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5C6F62"/>
                </a:solidFill>
                <a:latin typeface="Segoe UI"/>
              </a:rPr>
              <a:t>de la variabilidad del</a:t>
            </a:r>
          </a:p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5C6F62"/>
                </a:solidFill>
                <a:latin typeface="Segoe UI"/>
              </a:rPr>
              <a:t>rendimiento explicada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772400" y="3108960"/>
            <a:ext cx="384048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09560" y="3218688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1">
                <a:solidFill>
                  <a:srgbClr val="2E7D32"/>
                </a:solidFill>
                <a:latin typeface="Segoe UI"/>
              </a:rPr>
              <a:t>±0.811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3822192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5C6F62"/>
                </a:solidFill>
                <a:latin typeface="Segoe UI"/>
              </a:rPr>
              <a:t>ton/ha de error típico</a:t>
            </a:r>
          </a:p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5C6F62"/>
                </a:solidFill>
                <a:latin typeface="Segoe UI"/>
              </a:rPr>
              <a:t>(MAE en datos nunca vistos)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72400" y="4663440"/>
            <a:ext cx="3840480" cy="13716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909560" y="4773168"/>
            <a:ext cx="35661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1">
                <a:solidFill>
                  <a:srgbClr val="2E7D32"/>
                </a:solidFill>
                <a:latin typeface="Segoe UI"/>
              </a:rPr>
              <a:t>0.727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0" y="5376672"/>
            <a:ext cx="3657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5C6F62"/>
                </a:solidFill>
                <a:latin typeface="Segoe UI"/>
              </a:rPr>
              <a:t>ton/ha RMSE en Ecuador</a:t>
            </a:r>
          </a:p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5C6F62"/>
                </a:solidFill>
                <a:latin typeface="Segoe UI"/>
              </a:rPr>
              <a:t>(mejor que el promedio global)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4465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C6F62"/>
                </a:solidFill>
                <a:latin typeface="Segoe UI"/>
              </a:rPr>
              <a:t>AgroComercial del Litoral S.A. · Analítica de Negocios 7A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C6F62"/>
                </a:solidFill>
                <a:latin typeface="Segoe U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Segoe UI"/>
              </a:rPr>
              <a:t>No es una caja negra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C8E6C9"/>
                </a:solidFill>
                <a:latin typeface="Segoe UI"/>
              </a:rPr>
              <a:t>IA Explicable (XAI): qué variables pesan en la predicción</a:t>
            </a:r>
          </a:p>
        </p:txBody>
      </p:sp>
      <p:pic>
        <p:nvPicPr>
          <p:cNvPr id="5" name="Picture 4" descr="08_importancia_variabl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63040"/>
            <a:ext cx="7498079" cy="419745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321040" y="1737360"/>
            <a:ext cx="33832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0">
                <a:solidFill>
                  <a:srgbClr val="1C2B21"/>
                </a:solidFill>
                <a:latin typeface="Segoe UI"/>
              </a:rPr>
              <a:t>El modelo decide como un agrónomo:</a:t>
            </a:r>
          </a:p>
          <a:p>
            <a:pPr algn="l">
              <a:lnSpc>
                <a:spcPct val="120000"/>
              </a:lnSpc>
            </a:pP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1C2B21"/>
                </a:solidFill>
                <a:latin typeface="Segoe UI"/>
              </a:rPr>
              <a:t>1º ubica el cultivo</a:t>
            </a:r>
          </a:p>
          <a:p>
            <a:pPr algn="l">
              <a:lnSpc>
                <a:spcPct val="120000"/>
              </a:lnSpc>
            </a:pP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1C2B21"/>
                </a:solidFill>
                <a:latin typeface="Segoe UI"/>
              </a:rPr>
              <a:t>2º considera el país (suelo, tecnología)</a:t>
            </a:r>
          </a:p>
          <a:p>
            <a:pPr algn="l">
              <a:lnSpc>
                <a:spcPct val="120000"/>
              </a:lnSpc>
            </a:pP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1C2B21"/>
                </a:solidFill>
                <a:latin typeface="Segoe UI"/>
              </a:rPr>
              <a:t>3º ajusta por clima y manejo del año</a:t>
            </a:r>
          </a:p>
          <a:p>
            <a:pPr algn="l">
              <a:lnSpc>
                <a:spcPct val="120000"/>
              </a:lnSpc>
            </a:pPr>
          </a:p>
          <a:p>
            <a:pPr algn="l">
              <a:lnSpc>
                <a:spcPct val="120000"/>
              </a:lnSpc>
            </a:pPr>
            <a:r>
              <a:rPr sz="1400" b="0">
                <a:solidFill>
                  <a:srgbClr val="1C2B21"/>
                </a:solidFill>
                <a:latin typeface="Segoe UI"/>
              </a:rPr>
              <a:t>…pero con la memoria de 34,113 cosechas.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4465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C6F62"/>
                </a:solidFill>
                <a:latin typeface="Segoe UI"/>
              </a:rPr>
              <a:t>AgroComercial del Litoral S.A. · Analítica de Negocios 7A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C6F62"/>
                </a:solidFill>
                <a:latin typeface="Segoe U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Segoe UI"/>
              </a:rPr>
              <a:t>El entregable: plan de compras 2024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C8E6C9"/>
                </a:solidFill>
                <a:latin typeface="Segoe UI"/>
              </a:rPr>
              <a:t>Pilar prescriptivo — regla de decisión sobre el índice de oferta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5C6F62"/>
                </a:solidFill>
                <a:latin typeface="Segoe UI"/>
              </a:rPr>
              <a:t>Cultivo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0" y="13716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5C6F62"/>
                </a:solidFill>
                <a:latin typeface="Segoe UI"/>
              </a:rPr>
              <a:t>Predicho (ton/ha)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0" y="1371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5C6F62"/>
                </a:solidFill>
                <a:latin typeface="Segoe UI"/>
              </a:rPr>
              <a:t>Índice oferta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1371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5C6F62"/>
                </a:solidFill>
                <a:latin typeface="Segoe UI"/>
              </a:rPr>
              <a:t>Decisión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1828800"/>
            <a:ext cx="91440" cy="438912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1828800"/>
            <a:ext cx="29260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C2B21"/>
                </a:solidFill>
                <a:latin typeface="Segoe UI"/>
              </a:rPr>
              <a:t>Maíz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1828800"/>
            <a:ext cx="21945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C2B21"/>
                </a:solidFill>
                <a:latin typeface="Segoe UI"/>
              </a:rPr>
              <a:t>4.42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828800"/>
            <a:ext cx="1828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C2B21"/>
                </a:solidFill>
                <a:latin typeface="Segoe UI"/>
              </a:rPr>
              <a:t>1.891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0" y="1828800"/>
            <a:ext cx="32004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2E7D32"/>
                </a:solidFill>
                <a:latin typeface="Segoe UI"/>
              </a:rPr>
              <a:t>▲ +15 %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2340864"/>
            <a:ext cx="91440" cy="438912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31520" y="2340864"/>
            <a:ext cx="29260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C2B21"/>
                </a:solidFill>
                <a:latin typeface="Segoe UI"/>
              </a:rPr>
              <a:t>Trigo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2340864"/>
            <a:ext cx="21945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C2B21"/>
                </a:solidFill>
                <a:latin typeface="Segoe UI"/>
              </a:rPr>
              <a:t>1.51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2340864"/>
            <a:ext cx="1828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C2B21"/>
                </a:solidFill>
                <a:latin typeface="Segoe UI"/>
              </a:rPr>
              <a:t>1.613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340864"/>
            <a:ext cx="32004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2E7D32"/>
                </a:solidFill>
                <a:latin typeface="Segoe UI"/>
              </a:rPr>
              <a:t>▲ +15 %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2852928"/>
            <a:ext cx="91440" cy="438912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2852928"/>
            <a:ext cx="29260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C2B21"/>
                </a:solidFill>
                <a:latin typeface="Segoe UI"/>
              </a:rPr>
              <a:t>Yuca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0" y="2852928"/>
            <a:ext cx="21945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C2B21"/>
                </a:solidFill>
                <a:latin typeface="Segoe UI"/>
              </a:rPr>
              <a:t>6.37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17920" y="2852928"/>
            <a:ext cx="1828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C2B21"/>
                </a:solidFill>
                <a:latin typeface="Segoe UI"/>
              </a:rPr>
              <a:t>1.43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2852928"/>
            <a:ext cx="32004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2E7D32"/>
                </a:solidFill>
                <a:latin typeface="Segoe UI"/>
              </a:rPr>
              <a:t>▲ +15 %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3364992"/>
            <a:ext cx="91440" cy="438912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" y="3364992"/>
            <a:ext cx="29260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C2B21"/>
                </a:solidFill>
                <a:latin typeface="Segoe UI"/>
              </a:rPr>
              <a:t>Papa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0" y="3364992"/>
            <a:ext cx="21945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C2B21"/>
                </a:solidFill>
                <a:latin typeface="Segoe UI"/>
              </a:rPr>
              <a:t>13.27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3364992"/>
            <a:ext cx="1828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C2B21"/>
                </a:solidFill>
                <a:latin typeface="Segoe UI"/>
              </a:rPr>
              <a:t>1.422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229600" y="3364992"/>
            <a:ext cx="32004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2E7D32"/>
                </a:solidFill>
                <a:latin typeface="Segoe UI"/>
              </a:rPr>
              <a:t>▲ +15 %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3877056"/>
            <a:ext cx="91440" cy="438912"/>
          </a:xfrm>
          <a:prstGeom prst="rect">
            <a:avLst/>
          </a:prstGeom>
          <a:solidFill>
            <a:srgbClr val="2E7D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31520" y="3877056"/>
            <a:ext cx="29260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C2B21"/>
                </a:solidFill>
                <a:latin typeface="Segoe UI"/>
              </a:rPr>
              <a:t>Arroz en cáscara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40480" y="3877056"/>
            <a:ext cx="21945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C2B21"/>
                </a:solidFill>
                <a:latin typeface="Segoe UI"/>
              </a:rPr>
              <a:t>3.98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0" y="3877056"/>
            <a:ext cx="1828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C2B21"/>
                </a:solidFill>
                <a:latin typeface="Segoe UI"/>
              </a:rPr>
              <a:t>1.109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29600" y="3877056"/>
            <a:ext cx="32004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2E7D32"/>
                </a:solidFill>
                <a:latin typeface="Segoe UI"/>
              </a:rPr>
              <a:t>▲ +15 %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4389120"/>
            <a:ext cx="91440" cy="438912"/>
          </a:xfrm>
          <a:prstGeom prst="rect">
            <a:avLst/>
          </a:prstGeom>
          <a:solidFill>
            <a:srgbClr val="F9A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31520" y="4389120"/>
            <a:ext cx="29260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C2B21"/>
                </a:solidFill>
                <a:latin typeface="Segoe UI"/>
              </a:rPr>
              <a:t>Sorgo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840480" y="4389120"/>
            <a:ext cx="21945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C2B21"/>
                </a:solidFill>
                <a:latin typeface="Segoe UI"/>
              </a:rPr>
              <a:t>1.69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217920" y="4389120"/>
            <a:ext cx="1828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C2B21"/>
                </a:solidFill>
                <a:latin typeface="Segoe UI"/>
              </a:rPr>
              <a:t>1.046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0" y="4389120"/>
            <a:ext cx="32004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9A825"/>
                </a:solidFill>
                <a:latin typeface="Segoe UI"/>
              </a:rPr>
              <a:t>= mantener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4901184"/>
            <a:ext cx="91440" cy="438912"/>
          </a:xfrm>
          <a:prstGeom prst="rect">
            <a:avLst/>
          </a:prstGeom>
          <a:solidFill>
            <a:srgbClr val="F9A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31520" y="4901184"/>
            <a:ext cx="29260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C2B21"/>
                </a:solidFill>
                <a:latin typeface="Segoe UI"/>
              </a:rPr>
              <a:t>Plátano y otros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840480" y="4901184"/>
            <a:ext cx="21945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C2B21"/>
                </a:solidFill>
                <a:latin typeface="Segoe UI"/>
              </a:rPr>
              <a:t>6.97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17920" y="4901184"/>
            <a:ext cx="1828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C2B21"/>
                </a:solidFill>
                <a:latin typeface="Segoe UI"/>
              </a:rPr>
              <a:t>0.988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0" y="4901184"/>
            <a:ext cx="32004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F9A825"/>
                </a:solidFill>
                <a:latin typeface="Segoe UI"/>
              </a:rPr>
              <a:t>= mantener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02920" y="5413248"/>
            <a:ext cx="91440" cy="438912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31520" y="5413248"/>
            <a:ext cx="29260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C2B21"/>
                </a:solidFill>
                <a:latin typeface="Segoe UI"/>
              </a:rPr>
              <a:t>Camote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840480" y="5413248"/>
            <a:ext cx="21945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C2B21"/>
                </a:solidFill>
                <a:latin typeface="Segoe UI"/>
              </a:rPr>
              <a:t>2.32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17920" y="5413248"/>
            <a:ext cx="1828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C2B21"/>
                </a:solidFill>
                <a:latin typeface="Segoe UI"/>
              </a:rPr>
              <a:t>0.907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29600" y="5413248"/>
            <a:ext cx="32004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C62828"/>
                </a:solidFill>
                <a:latin typeface="Segoe UI"/>
              </a:rPr>
              <a:t>▼ −15 %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02920" y="5925312"/>
            <a:ext cx="91440" cy="438912"/>
          </a:xfrm>
          <a:prstGeom prst="rect">
            <a:avLst/>
          </a:prstGeom>
          <a:solidFill>
            <a:srgbClr val="C628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31520" y="5925312"/>
            <a:ext cx="292608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1C2B21"/>
                </a:solidFill>
                <a:latin typeface="Segoe UI"/>
              </a:rPr>
              <a:t>Soya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840480" y="5925312"/>
            <a:ext cx="219456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C2B21"/>
                </a:solidFill>
                <a:latin typeface="Segoe UI"/>
              </a:rPr>
              <a:t>1.36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217920" y="5925312"/>
            <a:ext cx="18288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1C2B21"/>
                </a:solidFill>
                <a:latin typeface="Segoe UI"/>
              </a:rPr>
              <a:t>0.874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29600" y="5925312"/>
            <a:ext cx="3200400" cy="5120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C62828"/>
                </a:solidFill>
                <a:latin typeface="Segoe UI"/>
              </a:rPr>
              <a:t>▼ −15 %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02920" y="64465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C6F62"/>
                </a:solidFill>
                <a:latin typeface="Segoe UI"/>
              </a:rPr>
              <a:t>AgroComercial del Litoral S.A. · Analítica de Negocios 7A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C6F62"/>
                </a:solidFill>
                <a:latin typeface="Segoe U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B433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164592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Segoe UI"/>
              </a:rPr>
              <a:t>Honestidad que da credibilidad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8368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C8E6C9"/>
                </a:solidFill>
                <a:latin typeface="Segoe UI"/>
              </a:rPr>
              <a:t>Sesgos, límites y cómo los mitigamos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17320"/>
            <a:ext cx="109728" cy="960120"/>
          </a:xfrm>
          <a:prstGeom prst="rect">
            <a:avLst/>
          </a:prstGeom>
          <a:solidFill>
            <a:srgbClr val="F9A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B4332"/>
                </a:solidFill>
                <a:latin typeface="Segoe UI"/>
              </a:rPr>
              <a:t>Sesgo de representación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801368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C2B21"/>
                </a:solidFill>
                <a:latin typeface="Segoe UI"/>
              </a:rPr>
              <a:t>Los cultivos con menos historia (plátano, papa en ciertos países) tienen mayor error; sus recomendaciones se entregan con advertencia explícita de incertidumbre.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" y="2624328"/>
            <a:ext cx="109728" cy="960120"/>
          </a:xfrm>
          <a:prstGeom prst="rect">
            <a:avLst/>
          </a:prstGeom>
          <a:solidFill>
            <a:srgbClr val="F9A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2578608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B4332"/>
                </a:solidFill>
                <a:latin typeface="Segoe UI"/>
              </a:rPr>
              <a:t>Rezago del dato oficial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008376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C2B21"/>
                </a:solidFill>
                <a:latin typeface="Segoe UI"/>
              </a:rPr>
              <a:t>FAOSTAT publica con 1-2 años de rezago (histórico hasta 2023). El pipeline reentrena con un comando cuando la FAO actualiza.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3831336"/>
            <a:ext cx="109728" cy="960120"/>
          </a:xfrm>
          <a:prstGeom prst="rect">
            <a:avLst/>
          </a:prstGeom>
          <a:solidFill>
            <a:srgbClr val="F9A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785616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B4332"/>
                </a:solidFill>
                <a:latin typeface="Segoe UI"/>
              </a:rPr>
              <a:t>Compras internas simuladas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215384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C2B21"/>
                </a:solidFill>
                <a:latin typeface="Segoe UI"/>
              </a:rPr>
              <a:t>El rendimiento y el clima son reales; las compras son un escenario académico declarado como tal.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02920" y="5038344"/>
            <a:ext cx="109728" cy="960120"/>
          </a:xfrm>
          <a:prstGeom prst="rect">
            <a:avLst/>
          </a:prstGeom>
          <a:solidFill>
            <a:srgbClr val="F9A8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4992624"/>
            <a:ext cx="107899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1B4332"/>
                </a:solidFill>
                <a:latin typeface="Segoe UI"/>
              </a:rPr>
              <a:t>Supervisión humana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422392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1C2B21"/>
                </a:solidFill>
                <a:latin typeface="Segoe UI"/>
              </a:rPr>
              <a:t>La decisión final es del comité: el modelo aporta evidencia, no órdenes.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64465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5C6F62"/>
                </a:solidFill>
                <a:latin typeface="Segoe UI"/>
              </a:rPr>
              <a:t>AgroComercial del Litoral S.A. · Analítica de Negocios 7A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247120" y="6446520"/>
            <a:ext cx="640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00000"/>
              </a:lnSpc>
            </a:pPr>
            <a:r>
              <a:rPr sz="900" b="0">
                <a:solidFill>
                  <a:srgbClr val="5C6F62"/>
                </a:solidFill>
                <a:latin typeface="Segoe U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43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103327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FFFFF"/>
                </a:solidFill>
                <a:latin typeface="Segoe UI"/>
              </a:rPr>
              <a:t>Hoy AgroComercial decide con evidencia:</a:t>
            </a:r>
          </a:p>
          <a:p>
            <a:pPr algn="l">
              <a:lnSpc>
                <a:spcPct val="100000"/>
              </a:lnSpc>
            </a:pPr>
            <a:r>
              <a:rPr sz="3400" b="1">
                <a:solidFill>
                  <a:srgbClr val="FFFFFF"/>
                </a:solidFill>
                <a:latin typeface="Segoe UI"/>
              </a:rPr>
              <a:t>qué comprar, cuánto y con qué confianza.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3657600"/>
            <a:ext cx="3291840" cy="1554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51560" y="3767328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1">
                <a:solidFill>
                  <a:srgbClr val="2E7D32"/>
                </a:solidFill>
                <a:latin typeface="Segoe UI"/>
              </a:rPr>
              <a:t>21.4 %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4370832"/>
            <a:ext cx="3108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5C6F62"/>
                </a:solidFill>
                <a:latin typeface="Segoe UI"/>
              </a:rPr>
              <a:t>de margen bruto,</a:t>
            </a:r>
          </a:p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5C6F62"/>
                </a:solidFill>
                <a:latin typeface="Segoe UI"/>
              </a:rPr>
              <a:t>defendido con datos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0" y="3657600"/>
            <a:ext cx="3291840" cy="1554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09160" y="3767328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1">
                <a:solidFill>
                  <a:srgbClr val="2E7D32"/>
                </a:solidFill>
                <a:latin typeface="Segoe UI"/>
              </a:rPr>
              <a:t>R² 0.96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4370832"/>
            <a:ext cx="3108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5C6F62"/>
                </a:solidFill>
                <a:latin typeface="Segoe UI"/>
              </a:rPr>
              <a:t>modelo validado en</a:t>
            </a:r>
          </a:p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5C6F62"/>
                </a:solidFill>
                <a:latin typeface="Segoe UI"/>
              </a:rPr>
              <a:t>datos nunca vistos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0" y="3657600"/>
            <a:ext cx="3291840" cy="15544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E7D3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66760" y="3767328"/>
            <a:ext cx="3017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2800" b="1">
                <a:solidFill>
                  <a:srgbClr val="2E7D32"/>
                </a:solidFill>
                <a:latin typeface="Segoe UI"/>
              </a:rPr>
              <a:t>34,113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4370832"/>
            <a:ext cx="3108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5C6F62"/>
                </a:solidFill>
                <a:latin typeface="Segoe UI"/>
              </a:rPr>
              <a:t>cosechas de respaldo para</a:t>
            </a:r>
          </a:p>
          <a:p>
            <a:pPr algn="ctr">
              <a:lnSpc>
                <a:spcPct val="100000"/>
              </a:lnSpc>
            </a:pPr>
            <a:r>
              <a:rPr sz="1050" b="0">
                <a:solidFill>
                  <a:srgbClr val="5C6F62"/>
                </a:solidFill>
                <a:latin typeface="Segoe UI"/>
              </a:rPr>
              <a:t>la intuición del comprador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57607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00000"/>
              </a:lnSpc>
            </a:pPr>
            <a:r>
              <a:rPr sz="2000" b="0">
                <a:solidFill>
                  <a:srgbClr val="C8E6C9"/>
                </a:solidFill>
                <a:latin typeface="Segoe UI"/>
              </a:rPr>
              <a:t>Gracias — ¿preguntas?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